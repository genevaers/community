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0" r:id="rId1"/>
  </p:sldMasterIdLst>
  <p:notesMasterIdLst>
    <p:notesMasterId r:id="rId7"/>
  </p:notesMasterIdLst>
  <p:handoutMasterIdLst>
    <p:handoutMasterId r:id="rId8"/>
  </p:handoutMasterIdLst>
  <p:sldIdLst>
    <p:sldId id="2946" r:id="rId2"/>
    <p:sldId id="2142531947" r:id="rId3"/>
    <p:sldId id="2142531952" r:id="rId4"/>
    <p:sldId id="2142531949" r:id="rId5"/>
    <p:sldId id="2142531953" r:id="rId6"/>
  </p:sldIdLst>
  <p:sldSz cx="14630400" cy="8229600"/>
  <p:notesSz cx="9144000" cy="6858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79" userDrawn="1">
          <p15:clr>
            <a:srgbClr val="547EBF"/>
          </p15:clr>
        </p15:guide>
        <p15:guide id="2" pos="4631" userDrawn="1">
          <p15:clr>
            <a:srgbClr val="547EBF"/>
          </p15:clr>
        </p15:guide>
        <p15:guide id="3" pos="7125" userDrawn="1">
          <p15:clr>
            <a:srgbClr val="547EBF"/>
          </p15:clr>
        </p15:guide>
        <p15:guide id="4" pos="820" userDrawn="1">
          <p15:clr>
            <a:srgbClr val="547EBF"/>
          </p15:clr>
        </p15:guide>
        <p15:guide id="5" orient="horz" pos="1571" userDrawn="1">
          <p15:clr>
            <a:srgbClr val="547EBF"/>
          </p15:clr>
        </p15:guide>
        <p15:guide id="6" orient="horz" pos="3295" userDrawn="1">
          <p15:clr>
            <a:srgbClr val="547EBF"/>
          </p15:clr>
        </p15:guide>
        <p15:guide id="7" userDrawn="1">
          <p15:clr>
            <a:srgbClr val="547EBF"/>
          </p15:clr>
        </p15:guide>
        <p15:guide id="8" pos="4177" userDrawn="1">
          <p15:clr>
            <a:srgbClr val="547EBF"/>
          </p15:clr>
        </p15:guide>
        <p15:guide id="9" orient="horz" userDrawn="1">
          <p15:clr>
            <a:srgbClr val="547EBF"/>
          </p15:clr>
        </p15:guide>
        <p15:guide id="10" orient="horz" pos="5184" userDrawn="1">
          <p15:clr>
            <a:srgbClr val="547EBF"/>
          </p15:clr>
        </p15:guide>
        <p15:guide id="11" orient="horz" pos="2116" userDrawn="1">
          <p15:clr>
            <a:srgbClr val="547EBF"/>
          </p15:clr>
        </p15:guide>
        <p15:guide id="12" orient="horz" pos="982" userDrawn="1">
          <p15:clr>
            <a:srgbClr val="A4A3A4"/>
          </p15:clr>
        </p15:guide>
        <p15:guide id="13" pos="4721" userDrawn="1">
          <p15:clr>
            <a:srgbClr val="A4A3A4"/>
          </p15:clr>
        </p15:guide>
        <p15:guide id="14" orient="horz" pos="1345" userDrawn="1">
          <p15:clr>
            <a:srgbClr val="A4A3A4"/>
          </p15:clr>
        </p15:guide>
        <p15:guide id="15" pos="46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BM" initials="A" lastIdx="1" clrIdx="0"/>
  <p:cmAuthor id="2" name="Bruno Pita" initials="BP" lastIdx="2" clrIdx="1">
    <p:extLst>
      <p:ext uri="{19B8F6BF-5375-455C-9EA6-DF929625EA0E}">
        <p15:presenceInfo xmlns:p15="http://schemas.microsoft.com/office/powerpoint/2012/main" userId="S-1-12-1-4284914689-1184204553-205087108-950977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445D"/>
    <a:srgbClr val="066083"/>
    <a:srgbClr val="0A445E"/>
    <a:srgbClr val="0A4C69"/>
    <a:srgbClr val="07688E"/>
    <a:srgbClr val="0881B2"/>
    <a:srgbClr val="0788BB"/>
    <a:srgbClr val="0594CB"/>
    <a:srgbClr val="01A2DF"/>
    <a:srgbClr val="00AC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386" autoAdjust="0"/>
    <p:restoredTop sz="95280" autoAdjust="0"/>
  </p:normalViewPr>
  <p:slideViewPr>
    <p:cSldViewPr snapToObjects="1">
      <p:cViewPr>
        <p:scale>
          <a:sx n="90" d="100"/>
          <a:sy n="90" d="100"/>
        </p:scale>
        <p:origin x="1314" y="246"/>
      </p:cViewPr>
      <p:guideLst>
        <p:guide orient="horz" pos="2479"/>
        <p:guide pos="4631"/>
        <p:guide pos="7125"/>
        <p:guide pos="820"/>
        <p:guide orient="horz" pos="1571"/>
        <p:guide orient="horz" pos="3295"/>
        <p:guide/>
        <p:guide pos="4177"/>
        <p:guide orient="horz"/>
        <p:guide orient="horz" pos="5184"/>
        <p:guide orient="horz" pos="2116"/>
        <p:guide orient="horz" pos="982"/>
        <p:guide pos="4721"/>
        <p:guide orient="horz" pos="1345"/>
        <p:guide pos="4608"/>
      </p:guideLst>
    </p:cSldViewPr>
  </p:slideViewPr>
  <p:outlineViewPr>
    <p:cViewPr>
      <p:scale>
        <a:sx n="33" d="100"/>
        <a:sy n="33" d="100"/>
      </p:scale>
      <p:origin x="0" y="-7932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112" d="100"/>
          <a:sy n="112" d="100"/>
        </p:scale>
        <p:origin x="2418" y="7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3A1D4-C2F1-4FBA-9F37-B87A976340E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01E57-0ADC-4285-9663-DD3D73EBE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823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 charset="0"/>
              </a:defRPr>
            </a:lvl1pPr>
          </a:lstStyle>
          <a:p>
            <a:fld id="{5288BB53-F264-D84E-8876-073A512183CA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 charset="0"/>
              </a:defRPr>
            </a:lvl1pPr>
          </a:lstStyle>
          <a:p>
            <a:fld id="{698D0594-4E60-8F4B-8226-C705B94694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85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 Regular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C0A1E-1059-9738-A993-59A9A62F9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682EFFDF-1AC6-76CD-504F-9A48013F2A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200">
                <a:solidFill>
                  <a:schemeClr val="hlink"/>
                </a:solidFill>
                <a:latin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hlink"/>
                </a:solidFill>
                <a:latin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hlink"/>
                </a:solidFill>
                <a:latin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hlink"/>
                </a:solidFill>
                <a:latin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hlink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hlink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hlink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hlink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hlink"/>
                </a:solidFill>
                <a:latin typeface="Arial" pitchFamily="34" charset="0"/>
              </a:defRPr>
            </a:lvl9pPr>
          </a:lstStyle>
          <a:p>
            <a:pPr eaLnBrk="1" hangingPunct="1"/>
            <a:fld id="{250093B7-BDD3-4A65-94C6-0A54BC4DA2CB}" type="slidenum">
              <a:rPr lang="en-US" altLang="en-US" sz="1200" smtClean="0">
                <a:solidFill>
                  <a:schemeClr val="tx1"/>
                </a:solidFill>
              </a:rPr>
              <a:pPr eaLnBrk="1" hangingPunct="1"/>
              <a:t>3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00727918-05C9-87B8-34EB-BF6C00BA49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F8ACC4A2-02CB-7C0E-6EF9-7AFDC203C9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2227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18281-ED1F-7212-6E35-81A3CFD33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FD56F75E-2364-2124-FF60-3082356B66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200">
                <a:solidFill>
                  <a:schemeClr val="hlink"/>
                </a:solidFill>
                <a:latin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hlink"/>
                </a:solidFill>
                <a:latin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hlink"/>
                </a:solidFill>
                <a:latin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hlink"/>
                </a:solidFill>
                <a:latin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hlink"/>
                </a:solidFill>
                <a:latin typeface="Arial" pitchFamily="34" charset="0"/>
              </a:defRPr>
            </a:lvl5pPr>
            <a:lvl6pPr marL="25146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hlink"/>
                </a:solidFill>
                <a:latin typeface="Arial" pitchFamily="34" charset="0"/>
              </a:defRPr>
            </a:lvl6pPr>
            <a:lvl7pPr marL="29718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hlink"/>
                </a:solidFill>
                <a:latin typeface="Arial" pitchFamily="34" charset="0"/>
              </a:defRPr>
            </a:lvl7pPr>
            <a:lvl8pPr marL="34290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hlink"/>
                </a:solidFill>
                <a:latin typeface="Arial" pitchFamily="34" charset="0"/>
              </a:defRPr>
            </a:lvl8pPr>
            <a:lvl9pPr marL="3886200" indent="-228600"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200">
                <a:solidFill>
                  <a:schemeClr val="hlink"/>
                </a:solidFill>
                <a:latin typeface="Arial" pitchFamily="34" charset="0"/>
              </a:defRPr>
            </a:lvl9pPr>
          </a:lstStyle>
          <a:p>
            <a:pPr eaLnBrk="1" hangingPunct="1"/>
            <a:fld id="{250093B7-BDD3-4A65-94C6-0A54BC4DA2CB}" type="slidenum">
              <a:rPr lang="en-US" altLang="en-US" sz="1200" smtClean="0">
                <a:solidFill>
                  <a:schemeClr val="tx1"/>
                </a:solidFill>
              </a:rPr>
              <a:pPr eaLnBrk="1" hangingPunct="1"/>
              <a:t>5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25EA11FF-F640-BFAE-97D0-D445A525A8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AF8310ED-416A-DF5D-3304-44717E9FD8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0791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4241759-5A89-494B-9FD9-3F858B814E0E}"/>
              </a:ext>
            </a:extLst>
          </p:cNvPr>
          <p:cNvSpPr/>
          <p:nvPr userDrawn="1"/>
        </p:nvSpPr>
        <p:spPr>
          <a:xfrm>
            <a:off x="-4255" y="0"/>
            <a:ext cx="14630402" cy="1325563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DD7A68-00F2-4A0C-8281-71920395A9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400"/>
            </a:lvl1pPr>
          </a:lstStyle>
          <a:p>
            <a:fld id="{E5F8DCC1-1647-4C7B-88F4-06971F323326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1450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D9BAAA-075B-4912-B652-EB7ECDCDD2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F8DCC1-1647-4C7B-88F4-06971F323326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2D872C-F5E2-4F89-AA4D-0BF620DFA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0790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D9BAAA-075B-4912-B652-EB7ECDCDD2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F8DCC1-1647-4C7B-88F4-06971F323326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25589C4-9D58-4BD7-8391-C8277D1788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9274" y="1159235"/>
            <a:ext cx="10880725" cy="3077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9E7C4-A33A-4F55-ABE4-A210D2819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9724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3"/>
          <p:cNvSpPr>
            <a:spLocks noGrp="1"/>
          </p:cNvSpPr>
          <p:nvPr>
            <p:ph idx="1" hasCustomPrompt="1"/>
          </p:nvPr>
        </p:nvSpPr>
        <p:spPr>
          <a:xfrm>
            <a:off x="549275" y="1737043"/>
            <a:ext cx="1357788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dirty="0" err="1"/>
              <a:t>Text</a:t>
            </a:r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D9BAAA-075B-4912-B652-EB7ECDCDD2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F8DCC1-1647-4C7B-88F4-06971F323326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0AE778-9446-425A-BAF2-37FC67BE0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050" y="181187"/>
            <a:ext cx="10879949" cy="82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7445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D9BAAA-075B-4912-B652-EB7ECDCDD2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F8DCC1-1647-4C7B-88F4-06971F323326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0AE778-9446-425A-BAF2-37FC67BE0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050" y="181187"/>
            <a:ext cx="10879949" cy="8244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pt-BR" dirty="0"/>
          </a:p>
        </p:txBody>
      </p:sp>
      <p:sp>
        <p:nvSpPr>
          <p:cNvPr id="9" name="Holder 3">
            <a:extLst>
              <a:ext uri="{FF2B5EF4-FFF2-40B4-BE49-F238E27FC236}">
                <a16:creationId xmlns:a16="http://schemas.microsoft.com/office/drawing/2014/main" id="{19CB55EB-AC0F-497B-9E73-D787DA67FF2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49275" y="1737043"/>
            <a:ext cx="13577888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7909C10-0485-41B3-9B79-3290ABECC0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9274" y="1159235"/>
            <a:ext cx="10880725" cy="30777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80298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EC23E-5048-9944-A86F-48C8151FB3F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49275" y="1306513"/>
            <a:ext cx="13577888" cy="192873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6413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7"/>
          </p:nvPr>
        </p:nvSpPr>
        <p:spPr>
          <a:xfrm>
            <a:off x="13355485" y="7643192"/>
            <a:ext cx="771677" cy="438484"/>
          </a:xfrm>
        </p:spPr>
        <p:txBody>
          <a:bodyPr/>
          <a:lstStyle/>
          <a:p>
            <a:fld id="{4F9AC08D-23A9-440E-BCB9-AA1E9877CC3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EC23E-5048-9944-A86F-48C8151FB3F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49275" y="1306513"/>
            <a:ext cx="6765925" cy="60846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A03AE5-816B-C140-BD88-70B42C752D0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567228" y="1306512"/>
            <a:ext cx="6765925" cy="60846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85E156-542D-4F40-8D9A-998BBF9EF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9626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2DB3B096-D9DE-6E4D-8C11-BB522CCF5A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3355485" y="7643192"/>
            <a:ext cx="771677" cy="438484"/>
          </a:xfrm>
        </p:spPr>
        <p:txBody>
          <a:bodyPr/>
          <a:lstStyle/>
          <a:p>
            <a:fld id="{4F9AC08D-23A9-440E-BCB9-AA1E9877CC38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4599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Pag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 bwMode="auto">
          <a:xfrm>
            <a:off x="-36004" y="-63228"/>
            <a:ext cx="14630400" cy="8246480"/>
          </a:xfrm>
          <a:prstGeom prst="rect">
            <a:avLst/>
          </a:prstGeom>
          <a:solidFill>
            <a:srgbClr val="1B4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09728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rgbClr val="191919"/>
              </a:solidFill>
              <a:effectLst/>
              <a:latin typeface="HelvNeue Light for IBM" pitchFamily="34" charset="0"/>
            </a:endParaRPr>
          </a:p>
        </p:txBody>
      </p:sp>
      <p:sp>
        <p:nvSpPr>
          <p:cNvPr id="7" name="Title 8"/>
          <p:cNvSpPr>
            <a:spLocks noGrp="1"/>
          </p:cNvSpPr>
          <p:nvPr>
            <p:ph type="title" hasCustomPrompt="1"/>
          </p:nvPr>
        </p:nvSpPr>
        <p:spPr>
          <a:xfrm>
            <a:off x="541325" y="3660293"/>
            <a:ext cx="13606272" cy="761747"/>
          </a:xfrm>
        </p:spPr>
        <p:txBody>
          <a:bodyPr anchor="b" anchorCtr="0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page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585216" y="4443984"/>
            <a:ext cx="13562381" cy="405994"/>
          </a:xfrm>
        </p:spPr>
        <p:txBody>
          <a:bodyPr lIns="0" anchor="b" anchorCtr="0"/>
          <a:lstStyle>
            <a:lvl1pPr>
              <a:buNone/>
              <a:defRPr sz="264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More text on one line in this location if needed</a:t>
            </a:r>
          </a:p>
        </p:txBody>
      </p:sp>
      <p:pic>
        <p:nvPicPr>
          <p:cNvPr id="3" name="Picture 2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93AAEC40-87A8-D549-AD37-435E6F1D3D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</a:blip>
          <a:stretch>
            <a:fillRect/>
          </a:stretch>
        </p:blipFill>
        <p:spPr>
          <a:xfrm rot="19549989">
            <a:off x="-1254233" y="78313"/>
            <a:ext cx="4089682" cy="1255145"/>
          </a:xfrm>
          <a:prstGeom prst="rect">
            <a:avLst/>
          </a:prstGeom>
        </p:spPr>
      </p:pic>
      <p:pic>
        <p:nvPicPr>
          <p:cNvPr id="13" name="Picture 12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5618E395-6478-7B9D-6D2D-8646F2B1EF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</a:blip>
          <a:stretch>
            <a:fillRect/>
          </a:stretch>
        </p:blipFill>
        <p:spPr>
          <a:xfrm rot="19549989">
            <a:off x="957746" y="78313"/>
            <a:ext cx="4089682" cy="1255145"/>
          </a:xfrm>
          <a:prstGeom prst="rect">
            <a:avLst/>
          </a:prstGeom>
        </p:spPr>
      </p:pic>
      <p:pic>
        <p:nvPicPr>
          <p:cNvPr id="14" name="Picture 1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6C7B7FC5-1BFA-21B8-CC66-D7F130A405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</a:blip>
          <a:stretch>
            <a:fillRect/>
          </a:stretch>
        </p:blipFill>
        <p:spPr>
          <a:xfrm rot="19549989">
            <a:off x="3169725" y="78313"/>
            <a:ext cx="4089682" cy="1255145"/>
          </a:xfrm>
          <a:prstGeom prst="rect">
            <a:avLst/>
          </a:prstGeom>
        </p:spPr>
      </p:pic>
      <p:pic>
        <p:nvPicPr>
          <p:cNvPr id="15" name="Picture 14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D530B11A-8E5D-C9E0-CC4C-B9C5DCCBA6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</a:blip>
          <a:stretch>
            <a:fillRect/>
          </a:stretch>
        </p:blipFill>
        <p:spPr>
          <a:xfrm rot="19549989">
            <a:off x="5381704" y="78313"/>
            <a:ext cx="4089682" cy="1255145"/>
          </a:xfrm>
          <a:prstGeom prst="rect">
            <a:avLst/>
          </a:prstGeom>
        </p:spPr>
      </p:pic>
      <p:pic>
        <p:nvPicPr>
          <p:cNvPr id="16" name="Picture 15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58004B57-3E2B-EDDF-DC1F-315CDA13F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</a:blip>
          <a:stretch>
            <a:fillRect/>
          </a:stretch>
        </p:blipFill>
        <p:spPr>
          <a:xfrm rot="19549989">
            <a:off x="7593683" y="78313"/>
            <a:ext cx="4089682" cy="1255145"/>
          </a:xfrm>
          <a:prstGeom prst="rect">
            <a:avLst/>
          </a:prstGeom>
        </p:spPr>
      </p:pic>
      <p:pic>
        <p:nvPicPr>
          <p:cNvPr id="17" name="Picture 16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E177BBF1-C6CF-F082-F5FD-C9BB4B45B1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</a:blip>
          <a:stretch>
            <a:fillRect/>
          </a:stretch>
        </p:blipFill>
        <p:spPr>
          <a:xfrm rot="19549989">
            <a:off x="9805662" y="78313"/>
            <a:ext cx="4089682" cy="1255145"/>
          </a:xfrm>
          <a:prstGeom prst="rect">
            <a:avLst/>
          </a:prstGeom>
        </p:spPr>
      </p:pic>
      <p:pic>
        <p:nvPicPr>
          <p:cNvPr id="18" name="Picture 17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247B75CC-B173-8988-55DE-9A2041686A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</a:blip>
          <a:stretch>
            <a:fillRect/>
          </a:stretch>
        </p:blipFill>
        <p:spPr>
          <a:xfrm rot="19549989">
            <a:off x="12017641" y="78313"/>
            <a:ext cx="4089682" cy="1255145"/>
          </a:xfrm>
          <a:prstGeom prst="rect">
            <a:avLst/>
          </a:prstGeom>
        </p:spPr>
      </p:pic>
      <p:pic>
        <p:nvPicPr>
          <p:cNvPr id="19" name="Picture 18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55747EF6-CC14-4BBA-2D70-C21E6AE4E2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</a:blip>
          <a:stretch>
            <a:fillRect/>
          </a:stretch>
        </p:blipFill>
        <p:spPr>
          <a:xfrm rot="19549989">
            <a:off x="14229620" y="78313"/>
            <a:ext cx="4089682" cy="1255145"/>
          </a:xfrm>
          <a:prstGeom prst="rect">
            <a:avLst/>
          </a:prstGeom>
        </p:spPr>
      </p:pic>
      <p:pic>
        <p:nvPicPr>
          <p:cNvPr id="20" name="Picture 19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8A4A4697-9072-2848-19A8-CBE97508F5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</a:blip>
          <a:stretch>
            <a:fillRect/>
          </a:stretch>
        </p:blipFill>
        <p:spPr>
          <a:xfrm rot="19549989">
            <a:off x="-2428763" y="2491528"/>
            <a:ext cx="4089682" cy="1255145"/>
          </a:xfrm>
          <a:prstGeom prst="rect">
            <a:avLst/>
          </a:prstGeom>
        </p:spPr>
      </p:pic>
      <p:pic>
        <p:nvPicPr>
          <p:cNvPr id="21" name="Picture 20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4B7162C5-68B6-5C55-798F-C5419A7FAB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</a:blip>
          <a:stretch>
            <a:fillRect/>
          </a:stretch>
        </p:blipFill>
        <p:spPr>
          <a:xfrm rot="19549989">
            <a:off x="-216784" y="2491528"/>
            <a:ext cx="4089682" cy="1255145"/>
          </a:xfrm>
          <a:prstGeom prst="rect">
            <a:avLst/>
          </a:prstGeom>
        </p:spPr>
      </p:pic>
      <p:pic>
        <p:nvPicPr>
          <p:cNvPr id="22" name="Picture 21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17424751-96B1-D7DA-FFAA-09215057BB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</a:blip>
          <a:stretch>
            <a:fillRect/>
          </a:stretch>
        </p:blipFill>
        <p:spPr>
          <a:xfrm rot="19549989">
            <a:off x="1995195" y="2491528"/>
            <a:ext cx="4089682" cy="1255145"/>
          </a:xfrm>
          <a:prstGeom prst="rect">
            <a:avLst/>
          </a:prstGeom>
        </p:spPr>
      </p:pic>
      <p:pic>
        <p:nvPicPr>
          <p:cNvPr id="23" name="Picture 22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B8E60BE4-1E4F-CDE4-B8BD-2D875EA5AF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</a:blip>
          <a:stretch>
            <a:fillRect/>
          </a:stretch>
        </p:blipFill>
        <p:spPr>
          <a:xfrm rot="19549989">
            <a:off x="4207174" y="2491528"/>
            <a:ext cx="4089682" cy="1255145"/>
          </a:xfrm>
          <a:prstGeom prst="rect">
            <a:avLst/>
          </a:prstGeom>
        </p:spPr>
      </p:pic>
      <p:pic>
        <p:nvPicPr>
          <p:cNvPr id="24" name="Picture 2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7A8C869B-A03F-1A4E-120F-08970244AA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</a:blip>
          <a:stretch>
            <a:fillRect/>
          </a:stretch>
        </p:blipFill>
        <p:spPr>
          <a:xfrm rot="19549989">
            <a:off x="6419153" y="2491528"/>
            <a:ext cx="4089682" cy="1255145"/>
          </a:xfrm>
          <a:prstGeom prst="rect">
            <a:avLst/>
          </a:prstGeom>
        </p:spPr>
      </p:pic>
      <p:pic>
        <p:nvPicPr>
          <p:cNvPr id="25" name="Picture 24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E8C34FCE-A0F4-FBCF-168C-FAF5D00489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</a:blip>
          <a:stretch>
            <a:fillRect/>
          </a:stretch>
        </p:blipFill>
        <p:spPr>
          <a:xfrm rot="19549989">
            <a:off x="8631132" y="2491528"/>
            <a:ext cx="4089682" cy="1255145"/>
          </a:xfrm>
          <a:prstGeom prst="rect">
            <a:avLst/>
          </a:prstGeom>
        </p:spPr>
      </p:pic>
      <p:pic>
        <p:nvPicPr>
          <p:cNvPr id="26" name="Picture 25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B5AFC4F3-0D43-99F4-63E8-86D7F83364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</a:blip>
          <a:stretch>
            <a:fillRect/>
          </a:stretch>
        </p:blipFill>
        <p:spPr>
          <a:xfrm rot="19549989">
            <a:off x="10843111" y="2491528"/>
            <a:ext cx="4089682" cy="1255145"/>
          </a:xfrm>
          <a:prstGeom prst="rect">
            <a:avLst/>
          </a:prstGeom>
        </p:spPr>
      </p:pic>
      <p:pic>
        <p:nvPicPr>
          <p:cNvPr id="27" name="Picture 26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0A368C73-16A2-4EFC-B73F-A74BA62F32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"/>
          </a:blip>
          <a:stretch>
            <a:fillRect/>
          </a:stretch>
        </p:blipFill>
        <p:spPr>
          <a:xfrm rot="19549989">
            <a:off x="13055090" y="2491528"/>
            <a:ext cx="4089682" cy="125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146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92">
          <p15:clr>
            <a:srgbClr val="FBAE40"/>
          </p15:clr>
        </p15:guide>
        <p15:guide id="2" pos="2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699D507-0017-634E-AF9F-DE565C7DD129}"/>
              </a:ext>
            </a:extLst>
          </p:cNvPr>
          <p:cNvSpPr/>
          <p:nvPr userDrawn="1"/>
        </p:nvSpPr>
        <p:spPr>
          <a:xfrm>
            <a:off x="0" y="-17216"/>
            <a:ext cx="14630402" cy="8246815"/>
          </a:xfrm>
          <a:prstGeom prst="rect">
            <a:avLst/>
          </a:prstGeom>
          <a:solidFill>
            <a:srgbClr val="424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3936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80"/>
            </a:lvl1pPr>
          </a:lstStyle>
          <a:p>
            <a:fld id="{6826F9A1-9B46-4608-B497-7E101192DDC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4050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29565"/>
            <a:ext cx="13167360" cy="465358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1" y="2166652"/>
            <a:ext cx="6464300" cy="443198"/>
          </a:xfrm>
        </p:spPr>
        <p:txBody>
          <a:bodyPr anchor="b"/>
          <a:lstStyle>
            <a:lvl1pPr marL="0" indent="0">
              <a:buNone/>
              <a:defRPr sz="2880" b="0">
                <a:latin typeface="Arial" pitchFamily="34" charset="0"/>
                <a:cs typeface="Arial" pitchFamily="34" charset="0"/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1" y="2609850"/>
            <a:ext cx="6464300" cy="2248821"/>
          </a:xfrm>
        </p:spPr>
        <p:txBody>
          <a:bodyPr/>
          <a:lstStyle>
            <a:lvl1pPr>
              <a:defRPr sz="288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160">
                <a:latin typeface="Arial" pitchFamily="34" charset="0"/>
                <a:cs typeface="Arial" pitchFamily="34" charset="0"/>
              </a:defRPr>
            </a:lvl3pPr>
            <a:lvl4pPr>
              <a:defRPr sz="1920">
                <a:latin typeface="Arial" pitchFamily="34" charset="0"/>
                <a:cs typeface="Arial" pitchFamily="34" charset="0"/>
              </a:defRPr>
            </a:lvl4pPr>
            <a:lvl5pPr>
              <a:defRPr sz="1920">
                <a:latin typeface="Arial" pitchFamily="34" charset="0"/>
                <a:cs typeface="Arial" pitchFamily="34" charset="0"/>
              </a:defRPr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2" y="2166652"/>
            <a:ext cx="6466840" cy="443198"/>
          </a:xfrm>
        </p:spPr>
        <p:txBody>
          <a:bodyPr anchor="b"/>
          <a:lstStyle>
            <a:lvl1pPr marL="0" indent="0">
              <a:buNone/>
              <a:defRPr sz="2880" b="0">
                <a:latin typeface="Arial" pitchFamily="34" charset="0"/>
                <a:cs typeface="Arial" pitchFamily="34" charset="0"/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2" y="2609850"/>
            <a:ext cx="6466840" cy="2248821"/>
          </a:xfrm>
        </p:spPr>
        <p:txBody>
          <a:bodyPr/>
          <a:lstStyle>
            <a:lvl1pPr>
              <a:defRPr sz="288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  <a:lvl3pPr>
              <a:defRPr sz="2160">
                <a:latin typeface="Arial" pitchFamily="34" charset="0"/>
                <a:cs typeface="Arial" pitchFamily="34" charset="0"/>
              </a:defRPr>
            </a:lvl3pPr>
            <a:lvl4pPr>
              <a:defRPr sz="1920">
                <a:latin typeface="Arial" pitchFamily="34" charset="0"/>
                <a:cs typeface="Arial" pitchFamily="34" charset="0"/>
              </a:defRPr>
            </a:lvl4pPr>
            <a:lvl5pPr>
              <a:defRPr sz="1920">
                <a:latin typeface="Arial" pitchFamily="34" charset="0"/>
                <a:cs typeface="Arial" pitchFamily="34" charset="0"/>
              </a:defRPr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080"/>
            </a:lvl1pPr>
          </a:lstStyle>
          <a:p>
            <a:fld id="{DA39A948-DEA7-4EFA-9130-61B45069BC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57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EFB221D-EE0B-4144-828A-90D8481C9DDE}"/>
              </a:ext>
            </a:extLst>
          </p:cNvPr>
          <p:cNvSpPr/>
          <p:nvPr userDrawn="1"/>
        </p:nvSpPr>
        <p:spPr>
          <a:xfrm>
            <a:off x="0" y="1005840"/>
            <a:ext cx="14630402" cy="707723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B764CC-8281-40CA-8A99-1B76DFFDD17E}"/>
              </a:ext>
            </a:extLst>
          </p:cNvPr>
          <p:cNvSpPr/>
          <p:nvPr userDrawn="1"/>
        </p:nvSpPr>
        <p:spPr>
          <a:xfrm>
            <a:off x="-2" y="8083070"/>
            <a:ext cx="14630402" cy="1503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0">
              <a:latin typeface="MV Boli" panose="02000500030200090000" pitchFamily="2" charset="0"/>
              <a:cs typeface="MV Boli" panose="02000500030200090000" pitchFamily="2" charset="0"/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0050" y="181187"/>
            <a:ext cx="10879949" cy="824653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0050" y="1326869"/>
            <a:ext cx="13577113" cy="19287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3"/>
          <p:cNvSpPr txBox="1">
            <a:spLocks/>
          </p:cNvSpPr>
          <p:nvPr userDrawn="1"/>
        </p:nvSpPr>
        <p:spPr>
          <a:xfrm>
            <a:off x="469854" y="8079262"/>
            <a:ext cx="2160000" cy="15033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800" dirty="0">
                <a:solidFill>
                  <a:srgbClr val="2B4776"/>
                </a:solidFill>
                <a:latin typeface="+mn-lt"/>
                <a:cs typeface="Segoe UI" panose="020B0502040204020203" pitchFamily="34" charset="0"/>
              </a:rPr>
              <a:t>© 2019 IBM V.20190203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F692D-287E-46C0-8422-D133A0BFC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3355485" y="7639734"/>
            <a:ext cx="771677" cy="4384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400" b="1" i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E5F8DCC1-1647-4C7B-88F4-06971F323326}" type="slidenum">
              <a:rPr lang="pt-BR" smtClean="0"/>
              <a:pPr/>
              <a:t>‹#›</a:t>
            </a:fld>
            <a:endParaRPr lang="pt-BR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16A3A39-3D61-4B17-A3D4-3F3202EB5BB0}"/>
              </a:ext>
            </a:extLst>
          </p:cNvPr>
          <p:cNvSpPr txBox="1">
            <a:spLocks/>
          </p:cNvSpPr>
          <p:nvPr userDrawn="1"/>
        </p:nvSpPr>
        <p:spPr>
          <a:xfrm>
            <a:off x="6004165" y="8079261"/>
            <a:ext cx="2668881" cy="154147"/>
          </a:xfrm>
          <a:prstGeom prst="rect">
            <a:avLst/>
          </a:prstGeom>
        </p:spPr>
        <p:txBody>
          <a:bodyPr tIns="0" bIns="0" anchor="ctr"/>
          <a:lstStyle>
            <a:defPPr>
              <a:defRPr lang="en-US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altLang="en-US" sz="800" noProof="0" dirty="0">
                <a:solidFill>
                  <a:srgbClr val="2B4776"/>
                </a:solidFill>
                <a:latin typeface="+mn-lt"/>
                <a:cs typeface="Segoe UI" panose="020B0502040204020203" pitchFamily="34" charset="0"/>
              </a:rPr>
              <a:t>– Confidencial –</a:t>
            </a:r>
          </a:p>
        </p:txBody>
      </p:sp>
      <p:pic>
        <p:nvPicPr>
          <p:cNvPr id="14" name="Picture 1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07DCD4CE-4026-D3DF-5F25-349DA6934C47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593043" y="174763"/>
            <a:ext cx="2843161" cy="87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3805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2" r:id="rId1"/>
    <p:sldLayoutId id="2147483818" r:id="rId2"/>
    <p:sldLayoutId id="2147483819" r:id="rId3"/>
    <p:sldLayoutId id="2147483817" r:id="rId4"/>
    <p:sldLayoutId id="2147483804" r:id="rId5"/>
    <p:sldLayoutId id="2147483837" r:id="rId6"/>
    <p:sldLayoutId id="2147483864" r:id="rId7"/>
    <p:sldLayoutId id="2147483835" r:id="rId8"/>
    <p:sldLayoutId id="2147483836" r:id="rId9"/>
    <p:sldLayoutId id="2147483824" r:id="rId10"/>
    <p:sldLayoutId id="2147483860" r:id="rId11"/>
    <p:sldLayoutId id="2147483866" r:id="rId12"/>
  </p:sldLayoutIdLst>
  <p:hf hdr="0" ftr="0" dt="0"/>
  <p:txStyles>
    <p:titleStyle>
      <a:lvl1pPr>
        <a:defRPr sz="2900" b="0">
          <a:solidFill>
            <a:schemeClr val="tx1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</a:defRPr>
      </a:lvl1pPr>
    </p:titleStyle>
    <p:bodyStyle>
      <a:lvl1pPr marL="277740" indent="-277740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>
          <a:solidFill>
            <a:schemeClr val="bg1"/>
          </a:solidFill>
          <a:latin typeface="Helvetica" panose="020B0604020202020204" pitchFamily="34" charset="0"/>
          <a:ea typeface="Helvetica" panose="020B0604020202020204" pitchFamily="34" charset="0"/>
          <a:cs typeface="Helvetica" panose="020B0604020202020204" pitchFamily="34" charset="0"/>
        </a:defRPr>
      </a:lvl1pPr>
      <a:lvl2pPr marL="601772" indent="-231450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>
          <a:solidFill>
            <a:schemeClr val="bg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972092" indent="-231450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>
          <a:solidFill>
            <a:schemeClr val="bg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342414" indent="-231450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>
          <a:solidFill>
            <a:schemeClr val="bg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1712734" indent="-231450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>
          <a:solidFill>
            <a:schemeClr val="bg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1851606">
        <a:defRPr>
          <a:latin typeface="+mn-lt"/>
          <a:ea typeface="+mn-ea"/>
          <a:cs typeface="+mn-cs"/>
        </a:defRPr>
      </a:lvl6pPr>
      <a:lvl7pPr marL="2221926">
        <a:defRPr>
          <a:latin typeface="+mn-lt"/>
          <a:ea typeface="+mn-ea"/>
          <a:cs typeface="+mn-cs"/>
        </a:defRPr>
      </a:lvl7pPr>
      <a:lvl8pPr marL="2592246">
        <a:defRPr>
          <a:latin typeface="+mn-lt"/>
          <a:ea typeface="+mn-ea"/>
          <a:cs typeface="+mn-cs"/>
        </a:defRPr>
      </a:lvl8pPr>
      <a:lvl9pPr marL="2962566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70321">
        <a:defRPr>
          <a:latin typeface="+mn-lt"/>
          <a:ea typeface="+mn-ea"/>
          <a:cs typeface="+mn-cs"/>
        </a:defRPr>
      </a:lvl2pPr>
      <a:lvl3pPr marL="740642">
        <a:defRPr>
          <a:latin typeface="+mn-lt"/>
          <a:ea typeface="+mn-ea"/>
          <a:cs typeface="+mn-cs"/>
        </a:defRPr>
      </a:lvl3pPr>
      <a:lvl4pPr marL="1110964">
        <a:defRPr>
          <a:latin typeface="+mn-lt"/>
          <a:ea typeface="+mn-ea"/>
          <a:cs typeface="+mn-cs"/>
        </a:defRPr>
      </a:lvl4pPr>
      <a:lvl5pPr marL="1481284">
        <a:defRPr>
          <a:latin typeface="+mn-lt"/>
          <a:ea typeface="+mn-ea"/>
          <a:cs typeface="+mn-cs"/>
        </a:defRPr>
      </a:lvl5pPr>
      <a:lvl6pPr marL="1851606">
        <a:defRPr>
          <a:latin typeface="+mn-lt"/>
          <a:ea typeface="+mn-ea"/>
          <a:cs typeface="+mn-cs"/>
        </a:defRPr>
      </a:lvl6pPr>
      <a:lvl7pPr marL="2221926">
        <a:defRPr>
          <a:latin typeface="+mn-lt"/>
          <a:ea typeface="+mn-ea"/>
          <a:cs typeface="+mn-cs"/>
        </a:defRPr>
      </a:lvl7pPr>
      <a:lvl8pPr marL="2592246">
        <a:defRPr>
          <a:latin typeface="+mn-lt"/>
          <a:ea typeface="+mn-ea"/>
          <a:cs typeface="+mn-cs"/>
        </a:defRPr>
      </a:lvl8pPr>
      <a:lvl9pPr marL="2962566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10" userDrawn="1">
          <p15:clr>
            <a:srgbClr val="F26B43"/>
          </p15:clr>
        </p15:guide>
        <p15:guide id="2" pos="346" userDrawn="1">
          <p15:clr>
            <a:srgbClr val="F26B43"/>
          </p15:clr>
        </p15:guide>
        <p15:guide id="3" pos="8899" userDrawn="1">
          <p15:clr>
            <a:srgbClr val="F26B43"/>
          </p15:clr>
        </p15:guide>
        <p15:guide id="4" orient="horz" pos="835" userDrawn="1">
          <p15:clr>
            <a:srgbClr val="F26B43"/>
          </p15:clr>
        </p15:guide>
        <p15:guide id="5" pos="8645" userDrawn="1">
          <p15:clr>
            <a:srgbClr val="F26B43"/>
          </p15:clr>
        </p15:guide>
        <p15:guide id="6" pos="109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41325" y="2926246"/>
            <a:ext cx="13606272" cy="1495794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IBM Plex Sans SemiBold" panose="020B0703050203000203" pitchFamily="34" charset="0"/>
              </a:rPr>
              <a:t>GenevaERS</a:t>
            </a: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  <a:latin typeface="IBM Plex Sans SemiBold" panose="020B0703050203000203" pitchFamily="34" charset="0"/>
              </a:rPr>
              <a:t> Annual Review</a:t>
            </a:r>
            <a:br>
              <a:rPr lang="en-US" dirty="0">
                <a:latin typeface="IBM Plex Sans SemiBold" panose="020B0703050203000203" pitchFamily="34" charset="0"/>
              </a:rPr>
            </a:br>
            <a:r>
              <a:rPr lang="en-US" dirty="0">
                <a:latin typeface="IBM Plex Sans SemiBold" panose="020B0703050203000203" pitchFamily="34" charset="0"/>
              </a:rPr>
              <a:t>Transforming </a:t>
            </a:r>
            <a:r>
              <a:rPr lang="en-US" dirty="0" err="1">
                <a:latin typeface="IBM Plex Sans SemiBold" panose="020B0703050203000203" pitchFamily="34" charset="0"/>
              </a:rPr>
              <a:t>GenevaERS</a:t>
            </a:r>
            <a:r>
              <a:rPr lang="en-US" dirty="0">
                <a:latin typeface="IBM Plex Sans SemiBold" panose="020B0703050203000203" pitchFamily="34" charset="0"/>
              </a:rPr>
              <a:t> to Java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85216" y="4443984"/>
            <a:ext cx="13562381" cy="940770"/>
          </a:xfrm>
        </p:spPr>
        <p:txBody>
          <a:bodyPr anchor="t"/>
          <a:lstStyle/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  <a:latin typeface="IBM Plex Sans SemiBold" panose="020B0703050203000203" pitchFamily="34" charset="0"/>
              </a:rPr>
              <a:t>By the </a:t>
            </a:r>
            <a:r>
              <a:rPr lang="en-US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IBM Plex Sans SemiBold" panose="020B0703050203000203" pitchFamily="34" charset="0"/>
              </a:rPr>
              <a:t>GenevaERS</a:t>
            </a: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  <a:latin typeface="IBM Plex Sans SemiBold" panose="020B0703050203000203" pitchFamily="34" charset="0"/>
              </a:rPr>
              <a:t> Team</a:t>
            </a:r>
          </a:p>
          <a:p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  <a:latin typeface="IBM Plex Sans SemiBold" panose="020B0703050203000203" pitchFamily="34" charset="0"/>
              </a:rPr>
              <a:t>December  11, 2025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113DBE-F4FD-3930-6EC3-5DD5F1E3E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124" y="4914369"/>
            <a:ext cx="7772400" cy="3198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996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E67ED-A2D5-D77B-865D-3984B475A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DAC90-3487-2ADF-F3CD-C1EF1F4D02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F9AC08D-23A9-440E-BCB9-AA1E9877CC38}" type="slidenum">
              <a:rPr lang="pt-BR" smtClean="0"/>
              <a:pPr/>
              <a:t>2</a:t>
            </a:fld>
            <a:endParaRPr lang="pt-BR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2F710D-F422-BEBC-BEE6-15FF2BEB8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Year’s OMP Presentation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08EFE4-B46F-5F91-2177-5DF05E7BFAE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49276" y="1309382"/>
            <a:ext cx="6729868" cy="6088846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We demonstrated our use of:</a:t>
            </a:r>
          </a:p>
          <a:p>
            <a:pPr marL="1184160" lvl="1" indent="-457200">
              <a:buFontTx/>
              <a:buChar char="-"/>
            </a:pPr>
            <a:r>
              <a:rPr lang="en-US" dirty="0"/>
              <a:t>z/OS environment</a:t>
            </a:r>
          </a:p>
          <a:p>
            <a:pPr marL="1184160" lvl="1" indent="-457200">
              <a:buFontTx/>
              <a:buChar char="-"/>
            </a:pPr>
            <a:r>
              <a:rPr lang="en-US" dirty="0"/>
              <a:t>Multi-threading</a:t>
            </a:r>
          </a:p>
          <a:p>
            <a:pPr marL="1184160" lvl="1" indent="-457200">
              <a:buFontTx/>
              <a:buChar char="-"/>
            </a:pPr>
            <a:r>
              <a:rPr lang="en-US" dirty="0"/>
              <a:t>Multi-language</a:t>
            </a:r>
          </a:p>
          <a:p>
            <a:pPr marL="1184160" lvl="1" indent="-457200">
              <a:buFontTx/>
              <a:buChar char="-"/>
            </a:pPr>
            <a:r>
              <a:rPr lang="en-US" dirty="0"/>
              <a:t>With JVM started only once</a:t>
            </a:r>
          </a:p>
          <a:p>
            <a:pPr marL="1184160" lvl="1" indent="-457200">
              <a:buFontTx/>
              <a:buChar char="-"/>
            </a:pPr>
            <a:r>
              <a:rPr lang="en-US" dirty="0"/>
              <a:t>Primarily focused on Run-time Efficiency</a:t>
            </a:r>
          </a:p>
          <a:p>
            <a:pPr marL="860128" indent="-457200">
              <a:buFontTx/>
              <a:buChar char="-"/>
            </a:pPr>
            <a:r>
              <a:rPr lang="en-US" dirty="0"/>
              <a:t>Results of Efforts</a:t>
            </a:r>
          </a:p>
          <a:p>
            <a:pPr marL="1184160" lvl="1" indent="-457200">
              <a:buFontTx/>
              <a:buChar char="-"/>
            </a:pPr>
            <a:r>
              <a:rPr lang="en-US" dirty="0"/>
              <a:t>Multiple levels of interfacing possible</a:t>
            </a:r>
          </a:p>
          <a:p>
            <a:pPr marL="1184160" lvl="1" indent="-457200">
              <a:buFontTx/>
              <a:buChar char="-"/>
            </a:pPr>
            <a:r>
              <a:rPr lang="en-US" dirty="0"/>
              <a:t>Data transmission between applications is possible</a:t>
            </a:r>
          </a:p>
          <a:p>
            <a:pPr marL="1184160" lvl="1" indent="-457200">
              <a:buFontTx/>
              <a:buChar char="-"/>
            </a:pPr>
            <a:r>
              <a:rPr lang="en-US" dirty="0"/>
              <a:t>Use of </a:t>
            </a:r>
            <a:r>
              <a:rPr lang="en-US" dirty="0" err="1"/>
              <a:t>jzos</a:t>
            </a:r>
            <a:r>
              <a:rPr lang="en-US" dirty="0"/>
              <a:t> is integral to success of the efforts</a:t>
            </a:r>
          </a:p>
          <a:p>
            <a:pPr marL="1184160" lvl="1" indent="-457200">
              <a:buFontTx/>
              <a:buChar char="-"/>
            </a:pPr>
            <a:r>
              <a:rPr lang="en-US" dirty="0"/>
              <a:t>Although of course ASM-Java was less efficient than just ASM, the overhead was surprisingly low</a:t>
            </a:r>
          </a:p>
          <a:p>
            <a:pPr marL="860128" indent="-457200">
              <a:buFontTx/>
              <a:buChar char="-"/>
            </a:pPr>
            <a:r>
              <a:rPr lang="en-US" dirty="0"/>
              <a:t>Area of further research includes performance implications of ASCII to EBCDIC conversion processes for a high-performance engine like </a:t>
            </a:r>
            <a:r>
              <a:rPr lang="en-US" dirty="0" err="1"/>
              <a:t>GenevaERS</a:t>
            </a:r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6F99F9A-8DB8-46F3-2C9D-1422C7840897}"/>
              </a:ext>
            </a:extLst>
          </p:cNvPr>
          <p:cNvGrpSpPr/>
          <p:nvPr/>
        </p:nvGrpSpPr>
        <p:grpSpPr>
          <a:xfrm>
            <a:off x="7999276" y="1126468"/>
            <a:ext cx="6048672" cy="6408712"/>
            <a:chOff x="7423212" y="1126467"/>
            <a:chExt cx="6624736" cy="655272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44622E8-2978-1285-E4DC-3C2BC112AFE0}"/>
                </a:ext>
              </a:extLst>
            </p:cNvPr>
            <p:cNvSpPr/>
            <p:nvPr/>
          </p:nvSpPr>
          <p:spPr>
            <a:xfrm>
              <a:off x="7423212" y="1126467"/>
              <a:ext cx="6624736" cy="6552729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800" dirty="0"/>
                <a:t>z/OS Environment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749917-6FEA-3160-2138-FC19004BB536}"/>
                </a:ext>
              </a:extLst>
            </p:cNvPr>
            <p:cNvSpPr/>
            <p:nvPr/>
          </p:nvSpPr>
          <p:spPr>
            <a:xfrm>
              <a:off x="8035280" y="1378496"/>
              <a:ext cx="5400600" cy="79208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Multi-Threaded Java Daemon </a:t>
              </a:r>
            </a:p>
            <a:p>
              <a:pPr algn="ctr"/>
              <a:r>
                <a:rPr lang="en-US" sz="18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(Main Task)</a:t>
              </a:r>
            </a:p>
          </p:txBody>
        </p:sp>
        <p:sp>
          <p:nvSpPr>
            <p:cNvPr id="7" name="Rounded Rectangle 9">
              <a:extLst>
                <a:ext uri="{FF2B5EF4-FFF2-40B4-BE49-F238E27FC236}">
                  <a16:creationId xmlns:a16="http://schemas.microsoft.com/office/drawing/2014/main" id="{2AFE74D5-C949-8D8F-AF45-7901C42E9422}"/>
                </a:ext>
              </a:extLst>
            </p:cNvPr>
            <p:cNvSpPr/>
            <p:nvPr/>
          </p:nvSpPr>
          <p:spPr>
            <a:xfrm>
              <a:off x="11161433" y="2566491"/>
              <a:ext cx="1620180" cy="13771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</a:t>
              </a:r>
            </a:p>
            <a:p>
              <a:pPr algn="ctr"/>
              <a:r>
                <a:rPr lang="en-US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Thread to create thread pool</a:t>
              </a:r>
            </a:p>
          </p:txBody>
        </p:sp>
        <p:sp>
          <p:nvSpPr>
            <p:cNvPr id="8" name="Rounded Rectangle 11">
              <a:extLst>
                <a:ext uri="{FF2B5EF4-FFF2-40B4-BE49-F238E27FC236}">
                  <a16:creationId xmlns:a16="http://schemas.microsoft.com/office/drawing/2014/main" id="{4E3E01E2-7B8C-5E8C-6B85-778593A03F49}"/>
                </a:ext>
              </a:extLst>
            </p:cNvPr>
            <p:cNvSpPr/>
            <p:nvPr/>
          </p:nvSpPr>
          <p:spPr>
            <a:xfrm>
              <a:off x="8035280" y="2557654"/>
              <a:ext cx="1620180" cy="137712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Java Thread to start 3GL application</a:t>
              </a:r>
            </a:p>
          </p:txBody>
        </p:sp>
        <p:sp>
          <p:nvSpPr>
            <p:cNvPr id="9" name="Down Arrow 12">
              <a:extLst>
                <a:ext uri="{FF2B5EF4-FFF2-40B4-BE49-F238E27FC236}">
                  <a16:creationId xmlns:a16="http://schemas.microsoft.com/office/drawing/2014/main" id="{D07AFDB5-05DC-7A1D-2450-F71B7DDDAB87}"/>
                </a:ext>
              </a:extLst>
            </p:cNvPr>
            <p:cNvSpPr/>
            <p:nvPr/>
          </p:nvSpPr>
          <p:spPr>
            <a:xfrm flipH="1">
              <a:off x="8755360" y="2213782"/>
              <a:ext cx="324035" cy="300673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309EB98-CBE7-E910-F57F-A40CA49AFA44}"/>
                </a:ext>
              </a:extLst>
            </p:cNvPr>
            <p:cNvSpPr/>
            <p:nvPr/>
          </p:nvSpPr>
          <p:spPr>
            <a:xfrm>
              <a:off x="8765649" y="5518956"/>
              <a:ext cx="1620179" cy="158417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Subtask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1CC55F-D9B4-A943-F9B6-0659479DAE16}"/>
                </a:ext>
              </a:extLst>
            </p:cNvPr>
            <p:cNvSpPr/>
            <p:nvPr/>
          </p:nvSpPr>
          <p:spPr>
            <a:xfrm>
              <a:off x="8517477" y="5122912"/>
              <a:ext cx="1620179" cy="158417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Subtask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8135CC0-66E2-0C6E-AC06-2FB2D964101F}"/>
                </a:ext>
              </a:extLst>
            </p:cNvPr>
            <p:cNvSpPr/>
            <p:nvPr/>
          </p:nvSpPr>
          <p:spPr>
            <a:xfrm>
              <a:off x="8269305" y="4726868"/>
              <a:ext cx="1620179" cy="158417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Subtask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4FEA06-F103-E90E-CC1D-65299468BFAC}"/>
                </a:ext>
              </a:extLst>
            </p:cNvPr>
            <p:cNvSpPr/>
            <p:nvPr/>
          </p:nvSpPr>
          <p:spPr>
            <a:xfrm>
              <a:off x="8033736" y="4312834"/>
              <a:ext cx="1620179" cy="158417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3GL/ASM main program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5620415-BD52-073A-C80A-DCD393BF1C60}"/>
                </a:ext>
              </a:extLst>
            </p:cNvPr>
            <p:cNvSpPr/>
            <p:nvPr/>
          </p:nvSpPr>
          <p:spPr>
            <a:xfrm>
              <a:off x="11893346" y="5536946"/>
              <a:ext cx="1620179" cy="158417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Thread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0841C4-525C-A089-BF3F-AE64A058D213}"/>
                </a:ext>
              </a:extLst>
            </p:cNvPr>
            <p:cNvSpPr/>
            <p:nvPr/>
          </p:nvSpPr>
          <p:spPr>
            <a:xfrm>
              <a:off x="11645174" y="5140902"/>
              <a:ext cx="1620179" cy="158417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Thread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ECCC723-810E-E371-291D-5FD0E2A0399C}"/>
                </a:ext>
              </a:extLst>
            </p:cNvPr>
            <p:cNvSpPr/>
            <p:nvPr/>
          </p:nvSpPr>
          <p:spPr>
            <a:xfrm>
              <a:off x="11397002" y="4744858"/>
              <a:ext cx="1620179" cy="158417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 anchorCtr="0"/>
            <a:lstStyle/>
            <a:p>
              <a:pPr algn="ctr"/>
              <a:r>
                <a:rPr 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Thread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AC86413-B862-1EAA-D049-74B2A03B7736}"/>
                </a:ext>
              </a:extLst>
            </p:cNvPr>
            <p:cNvSpPr/>
            <p:nvPr/>
          </p:nvSpPr>
          <p:spPr>
            <a:xfrm>
              <a:off x="11161433" y="4330824"/>
              <a:ext cx="1620179" cy="158417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Dynamically Loaded User Written Java Classes with Methods</a:t>
              </a:r>
            </a:p>
          </p:txBody>
        </p:sp>
        <p:sp>
          <p:nvSpPr>
            <p:cNvPr id="18" name="Down Arrow 22">
              <a:extLst>
                <a:ext uri="{FF2B5EF4-FFF2-40B4-BE49-F238E27FC236}">
                  <a16:creationId xmlns:a16="http://schemas.microsoft.com/office/drawing/2014/main" id="{D18D566A-01A7-5306-9CC6-23A6228B774C}"/>
                </a:ext>
              </a:extLst>
            </p:cNvPr>
            <p:cNvSpPr/>
            <p:nvPr/>
          </p:nvSpPr>
          <p:spPr>
            <a:xfrm flipH="1">
              <a:off x="8719357" y="3991485"/>
              <a:ext cx="324035" cy="300673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9" name="Down Arrow 23">
              <a:extLst>
                <a:ext uri="{FF2B5EF4-FFF2-40B4-BE49-F238E27FC236}">
                  <a16:creationId xmlns:a16="http://schemas.microsoft.com/office/drawing/2014/main" id="{5C45B00B-8673-D966-7334-F001E96EEBBA}"/>
                </a:ext>
              </a:extLst>
            </p:cNvPr>
            <p:cNvSpPr/>
            <p:nvPr/>
          </p:nvSpPr>
          <p:spPr>
            <a:xfrm flipH="1">
              <a:off x="11883056" y="2227264"/>
              <a:ext cx="324035" cy="300673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BD27A57-4814-FC8E-C386-87910BE416D3}"/>
                </a:ext>
              </a:extLst>
            </p:cNvPr>
            <p:cNvSpPr txBox="1"/>
            <p:nvPr/>
          </p:nvSpPr>
          <p:spPr>
            <a:xfrm>
              <a:off x="10012839" y="3268124"/>
              <a:ext cx="744755" cy="613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/>
                <a:t>Needed</a:t>
              </a:r>
            </a:p>
            <a:p>
              <a:pPr algn="ctr"/>
              <a:r>
                <a:rPr lang="en-US" sz="1100" dirty="0"/>
                <a:t>Thread</a:t>
              </a:r>
            </a:p>
            <a:p>
              <a:pPr algn="ctr"/>
              <a:r>
                <a:rPr lang="en-US" sz="1100" dirty="0"/>
                <a:t>Count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5F1207A-D7AA-3EA6-DA3E-4119A56EA39A}"/>
                </a:ext>
              </a:extLst>
            </p:cNvPr>
            <p:cNvCxnSpPr/>
            <p:nvPr/>
          </p:nvCxnSpPr>
          <p:spPr>
            <a:xfrm flipV="1">
              <a:off x="9653915" y="3934780"/>
              <a:ext cx="397589" cy="3573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690A856-53DE-70A5-9A35-A6461854BAC7}"/>
                </a:ext>
              </a:extLst>
            </p:cNvPr>
            <p:cNvCxnSpPr/>
            <p:nvPr/>
          </p:nvCxnSpPr>
          <p:spPr>
            <a:xfrm flipV="1">
              <a:off x="10728613" y="2926538"/>
              <a:ext cx="397589" cy="3573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Down Arrow 28">
              <a:extLst>
                <a:ext uri="{FF2B5EF4-FFF2-40B4-BE49-F238E27FC236}">
                  <a16:creationId xmlns:a16="http://schemas.microsoft.com/office/drawing/2014/main" id="{3F3068B7-A0FB-6A56-16A1-71F8264A8DC6}"/>
                </a:ext>
              </a:extLst>
            </p:cNvPr>
            <p:cNvSpPr/>
            <p:nvPr/>
          </p:nvSpPr>
          <p:spPr>
            <a:xfrm flipH="1">
              <a:off x="11809504" y="3988815"/>
              <a:ext cx="324035" cy="300673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6050D64-3FD5-6779-C450-81E9E793955E}"/>
                </a:ext>
              </a:extLst>
            </p:cNvPr>
            <p:cNvSpPr txBox="1"/>
            <p:nvPr/>
          </p:nvSpPr>
          <p:spPr>
            <a:xfrm>
              <a:off x="10357526" y="5523485"/>
              <a:ext cx="846105" cy="4720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Method </a:t>
              </a:r>
            </a:p>
            <a:p>
              <a:pPr algn="ctr"/>
              <a:r>
                <a:rPr lang="en-US" sz="1200" dirty="0"/>
                <a:t>Calls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8D42BB7-772B-9116-9CF8-0A6F4CE63E68}"/>
                </a:ext>
              </a:extLst>
            </p:cNvPr>
            <p:cNvCxnSpPr>
              <a:cxnSpLocks/>
            </p:cNvCxnSpPr>
            <p:nvPr/>
          </p:nvCxnSpPr>
          <p:spPr>
            <a:xfrm>
              <a:off x="9889484" y="6095020"/>
              <a:ext cx="15075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EEEBCCE-412C-8775-2C85-88388757C9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85426" y="6563072"/>
              <a:ext cx="15075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6B02B6A-A5A5-19FA-B189-8587E92D4AFC}"/>
                </a:ext>
              </a:extLst>
            </p:cNvPr>
            <p:cNvCxnSpPr>
              <a:cxnSpLocks/>
            </p:cNvCxnSpPr>
            <p:nvPr/>
          </p:nvCxnSpPr>
          <p:spPr>
            <a:xfrm>
              <a:off x="10375538" y="6923112"/>
              <a:ext cx="150751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5692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10B99-ACA4-23F2-9928-993492593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A076FA84-CB87-23E2-1F48-728910E802EC}"/>
              </a:ext>
            </a:extLst>
          </p:cNvPr>
          <p:cNvSpPr/>
          <p:nvPr/>
        </p:nvSpPr>
        <p:spPr>
          <a:xfrm>
            <a:off x="4178767" y="5755399"/>
            <a:ext cx="2304866" cy="20210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b="1" dirty="0"/>
              <a:t>Java Functions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5D06A7-CEBB-EE97-8BD0-E9B76C733304}"/>
              </a:ext>
            </a:extLst>
          </p:cNvPr>
          <p:cNvSpPr/>
          <p:nvPr/>
        </p:nvSpPr>
        <p:spPr>
          <a:xfrm>
            <a:off x="550050" y="2458616"/>
            <a:ext cx="3236758" cy="22682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/>
              <a:t>Java Workbench</a:t>
            </a:r>
          </a:p>
          <a:p>
            <a:r>
              <a:rPr lang="en-US" sz="1400" dirty="0"/>
              <a:t>- Used to define desires processes and outputs</a:t>
            </a: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CA87E6EB-370F-738E-C4A3-0767A6B5AE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Highly-Efficient Just-in-time Compiler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CB1A0F-866D-8134-9D40-339E18F3E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857" y="1270484"/>
            <a:ext cx="13577888" cy="1051570"/>
          </a:xfrm>
        </p:spPr>
        <p:txBody>
          <a:bodyPr/>
          <a:lstStyle/>
          <a:p>
            <a:r>
              <a:rPr lang="en-US" dirty="0" err="1"/>
              <a:t>GenevaERS</a:t>
            </a:r>
            <a:r>
              <a:rPr lang="en-US" dirty="0"/>
              <a:t> is a just-in-time compiler, creating highly efficient machine code for tremendous scalability for single-pass scans of data generating multiple quantitative and analytical outputs</a:t>
            </a:r>
          </a:p>
          <a:p>
            <a:r>
              <a:rPr lang="en-US" dirty="0"/>
              <a:t>Existing assembler code uses OP Codes to generate machine code load modules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3EE280-F6DC-AAE1-08A3-6665C2108B0E}"/>
              </a:ext>
            </a:extLst>
          </p:cNvPr>
          <p:cNvSpPr/>
          <p:nvPr/>
        </p:nvSpPr>
        <p:spPr>
          <a:xfrm>
            <a:off x="550050" y="5397858"/>
            <a:ext cx="3137989" cy="23533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400" dirty="0"/>
              <a:t>Java Run Control Apps</a:t>
            </a:r>
          </a:p>
          <a:p>
            <a:r>
              <a:rPr lang="en-US" sz="1400" dirty="0"/>
              <a:t>- Packages specification creating a Logic Table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DBA0B52-1577-6E6B-D360-B71D4F5A08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264"/>
          <a:stretch>
            <a:fillRect/>
          </a:stretch>
        </p:blipFill>
        <p:spPr>
          <a:xfrm>
            <a:off x="984497" y="3837776"/>
            <a:ext cx="1776382" cy="7810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7C5F14-C494-0F8A-B958-4A70B39923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2502"/>
          <a:stretch>
            <a:fillRect/>
          </a:stretch>
        </p:blipFill>
        <p:spPr>
          <a:xfrm>
            <a:off x="1755729" y="3346747"/>
            <a:ext cx="1776503" cy="10919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BE65C98-2B5C-7D0D-48A9-D30C52C692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386" y="3242408"/>
            <a:ext cx="1457869" cy="55252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AC8B028-98D4-9C7F-AEF1-7A38314A797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723" r="23006"/>
          <a:stretch>
            <a:fillRect/>
          </a:stretch>
        </p:blipFill>
        <p:spPr>
          <a:xfrm>
            <a:off x="1194520" y="6458395"/>
            <a:ext cx="2268252" cy="10767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0C5370-9A12-0445-949D-D46F41ADFCC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44" y="6215739"/>
            <a:ext cx="1525802" cy="81503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ABB9BE3A-AB5E-D2D2-56D6-FDA9EBDBC5CC}"/>
              </a:ext>
            </a:extLst>
          </p:cNvPr>
          <p:cNvSpPr/>
          <p:nvPr/>
        </p:nvSpPr>
        <p:spPr>
          <a:xfrm>
            <a:off x="4192189" y="2522296"/>
            <a:ext cx="2304866" cy="20210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Logic Table</a:t>
            </a:r>
          </a:p>
          <a:p>
            <a:r>
              <a:rPr lang="en-US" sz="1100" b="1" dirty="0"/>
              <a:t>Op Code	Function</a:t>
            </a:r>
          </a:p>
          <a:p>
            <a:r>
              <a:rPr lang="en-US" sz="1100" dirty="0"/>
              <a:t>HD	Header</a:t>
            </a:r>
          </a:p>
          <a:p>
            <a:r>
              <a:rPr lang="en-US" sz="1100" dirty="0"/>
              <a:t>RENX	Read Next</a:t>
            </a:r>
          </a:p>
          <a:p>
            <a:r>
              <a:rPr lang="en-US" sz="1100" dirty="0"/>
              <a:t>NV	New View</a:t>
            </a:r>
          </a:p>
          <a:p>
            <a:r>
              <a:rPr lang="en-US" sz="1100" dirty="0"/>
              <a:t>CFEC	Compare Field</a:t>
            </a:r>
          </a:p>
          <a:p>
            <a:r>
              <a:rPr lang="en-US" sz="1100" dirty="0"/>
              <a:t>DTC	Data Transform</a:t>
            </a:r>
          </a:p>
          <a:p>
            <a:r>
              <a:rPr lang="en-US" sz="1100" dirty="0"/>
              <a:t>WRDT	Write Data</a:t>
            </a:r>
          </a:p>
          <a:p>
            <a:r>
              <a:rPr lang="en-US" sz="1100" dirty="0"/>
              <a:t>ES	End of String</a:t>
            </a:r>
          </a:p>
          <a:p>
            <a:r>
              <a:rPr lang="en-US" sz="1100" dirty="0"/>
              <a:t>EN	End of Table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001CCF-2536-07C9-841B-6C4BFB5E2C89}"/>
              </a:ext>
            </a:extLst>
          </p:cNvPr>
          <p:cNvSpPr/>
          <p:nvPr/>
        </p:nvSpPr>
        <p:spPr>
          <a:xfrm>
            <a:off x="6949636" y="2505889"/>
            <a:ext cx="3685922" cy="20210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dirty="0"/>
              <a:t>Assembler JIT Compiler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84E845-7625-8520-29C2-F629C1FC9E9E}"/>
              </a:ext>
            </a:extLst>
          </p:cNvPr>
          <p:cNvSpPr/>
          <p:nvPr/>
        </p:nvSpPr>
        <p:spPr>
          <a:xfrm>
            <a:off x="11598997" y="5857195"/>
            <a:ext cx="2095333" cy="717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Thread 1</a:t>
            </a:r>
          </a:p>
          <a:p>
            <a:pPr algn="ctr"/>
            <a:r>
              <a:rPr lang="en-US" sz="1100" dirty="0"/>
              <a:t>Generated Machine Code Load Module</a:t>
            </a: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B134FD05-4C35-A26E-BE22-CF00C7F73874}"/>
              </a:ext>
            </a:extLst>
          </p:cNvPr>
          <p:cNvSpPr/>
          <p:nvPr/>
        </p:nvSpPr>
        <p:spPr>
          <a:xfrm>
            <a:off x="2422255" y="4690864"/>
            <a:ext cx="352034" cy="5094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82C27F67-FE23-A945-E8A5-ADB63808CA22}"/>
              </a:ext>
            </a:extLst>
          </p:cNvPr>
          <p:cNvSpPr/>
          <p:nvPr/>
        </p:nvSpPr>
        <p:spPr>
          <a:xfrm>
            <a:off x="3683745" y="6566758"/>
            <a:ext cx="464450" cy="320351"/>
          </a:xfrm>
          <a:prstGeom prst="rightArrow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3587322-2B86-E093-F093-910F7A2EAB1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52346"/>
          <a:stretch>
            <a:fillRect/>
          </a:stretch>
        </p:blipFill>
        <p:spPr>
          <a:xfrm>
            <a:off x="4422886" y="6192946"/>
            <a:ext cx="1883788" cy="130747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E73F183-147E-3BF9-9958-109EF1F102D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1089" y="3497535"/>
            <a:ext cx="3151553" cy="1013397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E5086B1-2DCB-6C8C-B7E2-0660CC34DB9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990" t="11786" r="-963" b="42067"/>
          <a:stretch>
            <a:fillRect/>
          </a:stretch>
        </p:blipFill>
        <p:spPr>
          <a:xfrm>
            <a:off x="7221089" y="2823012"/>
            <a:ext cx="3151553" cy="63244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50663A6-50B9-1B7A-144F-71332006DA17}"/>
              </a:ext>
            </a:extLst>
          </p:cNvPr>
          <p:cNvSpPr/>
          <p:nvPr/>
        </p:nvSpPr>
        <p:spPr>
          <a:xfrm>
            <a:off x="11598997" y="7112415"/>
            <a:ext cx="2095333" cy="717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Thread 2</a:t>
            </a:r>
          </a:p>
          <a:p>
            <a:pPr algn="ctr"/>
            <a:r>
              <a:rPr lang="en-US" sz="1100" dirty="0"/>
              <a:t>Generated Machine Code Load Module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83A9B85-B7C0-D7D7-BF95-4FCDEB678317}"/>
              </a:ext>
            </a:extLst>
          </p:cNvPr>
          <p:cNvSpPr/>
          <p:nvPr/>
        </p:nvSpPr>
        <p:spPr>
          <a:xfrm>
            <a:off x="6661857" y="3337360"/>
            <a:ext cx="280658" cy="3203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88C05E37-D91B-B08E-0813-529990004F59}"/>
              </a:ext>
            </a:extLst>
          </p:cNvPr>
          <p:cNvSpPr/>
          <p:nvPr/>
        </p:nvSpPr>
        <p:spPr>
          <a:xfrm>
            <a:off x="10930458" y="7347654"/>
            <a:ext cx="415085" cy="486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Input</a:t>
            </a:r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218AD68B-770B-3A2D-FAAC-656ACF476B7F}"/>
              </a:ext>
            </a:extLst>
          </p:cNvPr>
          <p:cNvSpPr/>
          <p:nvPr/>
        </p:nvSpPr>
        <p:spPr>
          <a:xfrm>
            <a:off x="13941245" y="7325007"/>
            <a:ext cx="415085" cy="486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Out-put</a:t>
            </a:r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07E56F71-551E-85BE-2CDA-9A5102F34ECE}"/>
              </a:ext>
            </a:extLst>
          </p:cNvPr>
          <p:cNvSpPr/>
          <p:nvPr/>
        </p:nvSpPr>
        <p:spPr>
          <a:xfrm>
            <a:off x="10926497" y="5851883"/>
            <a:ext cx="415085" cy="486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Input</a:t>
            </a:r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B35AA639-B63B-9AEB-4C79-D804D4628594}"/>
              </a:ext>
            </a:extLst>
          </p:cNvPr>
          <p:cNvSpPr/>
          <p:nvPr/>
        </p:nvSpPr>
        <p:spPr>
          <a:xfrm>
            <a:off x="13951745" y="5851883"/>
            <a:ext cx="415085" cy="486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Out-put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0C2C2BBB-0A29-E936-69C7-B02575E6D332}"/>
              </a:ext>
            </a:extLst>
          </p:cNvPr>
          <p:cNvSpPr/>
          <p:nvPr/>
        </p:nvSpPr>
        <p:spPr>
          <a:xfrm rot="20602217">
            <a:off x="10896009" y="6437004"/>
            <a:ext cx="464450" cy="3203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1573372-5A45-7941-7B99-939BAC2824EC}"/>
              </a:ext>
            </a:extLst>
          </p:cNvPr>
          <p:cNvSpPr/>
          <p:nvPr/>
        </p:nvSpPr>
        <p:spPr>
          <a:xfrm rot="1163901">
            <a:off x="10885107" y="6741049"/>
            <a:ext cx="464450" cy="3203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9BB03E-66EE-B133-A3E8-4EAAB9321B80}"/>
              </a:ext>
            </a:extLst>
          </p:cNvPr>
          <p:cNvSpPr/>
          <p:nvPr/>
        </p:nvSpPr>
        <p:spPr>
          <a:xfrm>
            <a:off x="6850489" y="5769395"/>
            <a:ext cx="3685922" cy="20210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100" dirty="0"/>
              <a:t>Java Compiler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3DBE34-74F0-3910-BD47-1A49D670378D}"/>
              </a:ext>
            </a:extLst>
          </p:cNvPr>
          <p:cNvSpPr/>
          <p:nvPr/>
        </p:nvSpPr>
        <p:spPr>
          <a:xfrm>
            <a:off x="11591876" y="2581361"/>
            <a:ext cx="2095333" cy="717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Thread 1</a:t>
            </a:r>
          </a:p>
          <a:p>
            <a:pPr algn="ctr"/>
            <a:r>
              <a:rPr lang="en-US" sz="1100" dirty="0"/>
              <a:t>Generated Machine Code Load Module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B1FE9A6-F098-05DA-0534-6FA5031BF036}"/>
              </a:ext>
            </a:extLst>
          </p:cNvPr>
          <p:cNvSpPr/>
          <p:nvPr/>
        </p:nvSpPr>
        <p:spPr>
          <a:xfrm>
            <a:off x="11591876" y="3836581"/>
            <a:ext cx="2095333" cy="7170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Thread 2</a:t>
            </a:r>
          </a:p>
          <a:p>
            <a:pPr algn="ctr"/>
            <a:r>
              <a:rPr lang="en-US" sz="1100" dirty="0"/>
              <a:t>Generated Machine Code Load Module</a:t>
            </a:r>
          </a:p>
        </p:txBody>
      </p:sp>
      <p:sp>
        <p:nvSpPr>
          <p:cNvPr id="35" name="Cylinder 34">
            <a:extLst>
              <a:ext uri="{FF2B5EF4-FFF2-40B4-BE49-F238E27FC236}">
                <a16:creationId xmlns:a16="http://schemas.microsoft.com/office/drawing/2014/main" id="{386633E2-4B78-A896-37B5-F45331E29F8C}"/>
              </a:ext>
            </a:extLst>
          </p:cNvPr>
          <p:cNvSpPr/>
          <p:nvPr/>
        </p:nvSpPr>
        <p:spPr>
          <a:xfrm>
            <a:off x="10923337" y="4071820"/>
            <a:ext cx="415085" cy="486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Input</a:t>
            </a:r>
          </a:p>
        </p:txBody>
      </p:sp>
      <p:sp>
        <p:nvSpPr>
          <p:cNvPr id="37" name="Cylinder 36">
            <a:extLst>
              <a:ext uri="{FF2B5EF4-FFF2-40B4-BE49-F238E27FC236}">
                <a16:creationId xmlns:a16="http://schemas.microsoft.com/office/drawing/2014/main" id="{51085CF8-9324-747B-3A7B-C80029A12780}"/>
              </a:ext>
            </a:extLst>
          </p:cNvPr>
          <p:cNvSpPr/>
          <p:nvPr/>
        </p:nvSpPr>
        <p:spPr>
          <a:xfrm>
            <a:off x="13934124" y="4049173"/>
            <a:ext cx="415085" cy="486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Out-put</a:t>
            </a:r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2376D356-D39D-D534-4D6C-454859417CE5}"/>
              </a:ext>
            </a:extLst>
          </p:cNvPr>
          <p:cNvSpPr/>
          <p:nvPr/>
        </p:nvSpPr>
        <p:spPr>
          <a:xfrm>
            <a:off x="10919376" y="2576049"/>
            <a:ext cx="415085" cy="486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Input</a:t>
            </a:r>
          </a:p>
        </p:txBody>
      </p:sp>
      <p:sp>
        <p:nvSpPr>
          <p:cNvPr id="41" name="Cylinder 40">
            <a:extLst>
              <a:ext uri="{FF2B5EF4-FFF2-40B4-BE49-F238E27FC236}">
                <a16:creationId xmlns:a16="http://schemas.microsoft.com/office/drawing/2014/main" id="{6A2A6309-220F-769E-E411-22DC3611434C}"/>
              </a:ext>
            </a:extLst>
          </p:cNvPr>
          <p:cNvSpPr/>
          <p:nvPr/>
        </p:nvSpPr>
        <p:spPr>
          <a:xfrm>
            <a:off x="13944624" y="2576049"/>
            <a:ext cx="415085" cy="486243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Out-put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F23C041C-1012-5AF8-9463-8A2AA76638BA}"/>
              </a:ext>
            </a:extLst>
          </p:cNvPr>
          <p:cNvSpPr/>
          <p:nvPr/>
        </p:nvSpPr>
        <p:spPr>
          <a:xfrm rot="20602217">
            <a:off x="10888888" y="3161170"/>
            <a:ext cx="464450" cy="3203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32AD2A96-17CD-9775-D513-5374B3B0F5DC}"/>
              </a:ext>
            </a:extLst>
          </p:cNvPr>
          <p:cNvSpPr/>
          <p:nvPr/>
        </p:nvSpPr>
        <p:spPr>
          <a:xfrm rot="1163901">
            <a:off x="10877986" y="3465215"/>
            <a:ext cx="464450" cy="3203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E46EC095-6485-5495-A9BB-F27B63D38767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r="33187"/>
          <a:stretch>
            <a:fillRect/>
          </a:stretch>
        </p:blipFill>
        <p:spPr>
          <a:xfrm>
            <a:off x="7180722" y="6153811"/>
            <a:ext cx="3174567" cy="1312176"/>
          </a:xfrm>
          <a:prstGeom prst="rect">
            <a:avLst/>
          </a:prstGeom>
        </p:spPr>
      </p:pic>
      <p:sp>
        <p:nvSpPr>
          <p:cNvPr id="47" name="Arrow: Right 46">
            <a:extLst>
              <a:ext uri="{FF2B5EF4-FFF2-40B4-BE49-F238E27FC236}">
                <a16:creationId xmlns:a16="http://schemas.microsoft.com/office/drawing/2014/main" id="{33EF95BC-BBAA-36FA-DA6F-4252973F8566}"/>
              </a:ext>
            </a:extLst>
          </p:cNvPr>
          <p:cNvSpPr/>
          <p:nvPr/>
        </p:nvSpPr>
        <p:spPr>
          <a:xfrm rot="19445045">
            <a:off x="3674631" y="4789810"/>
            <a:ext cx="1182336" cy="320351"/>
          </a:xfrm>
          <a:prstGeom prst="rightArrow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F5CA5075-C5E3-70D2-9D3F-394B13B75B96}"/>
              </a:ext>
            </a:extLst>
          </p:cNvPr>
          <p:cNvSpPr/>
          <p:nvPr/>
        </p:nvSpPr>
        <p:spPr>
          <a:xfrm>
            <a:off x="6559116" y="6638765"/>
            <a:ext cx="197215" cy="32035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ontent Placeholder 4">
            <a:extLst>
              <a:ext uri="{FF2B5EF4-FFF2-40B4-BE49-F238E27FC236}">
                <a16:creationId xmlns:a16="http://schemas.microsoft.com/office/drawing/2014/main" id="{F6F4AA99-1B9D-47FE-EC93-E37E76BEE831}"/>
              </a:ext>
            </a:extLst>
          </p:cNvPr>
          <p:cNvSpPr txBox="1">
            <a:spLocks/>
          </p:cNvSpPr>
          <p:nvPr/>
        </p:nvSpPr>
        <p:spPr>
          <a:xfrm>
            <a:off x="4228894" y="5211179"/>
            <a:ext cx="970523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77740" indent="-27774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Helvetica" panose="020B0604020202020204" pitchFamily="34" charset="0"/>
                <a:ea typeface="Helvetica" panose="020B0604020202020204" pitchFamily="34" charset="0"/>
                <a:cs typeface="Helvetica" panose="020B0604020202020204" pitchFamily="34" charset="0"/>
              </a:defRPr>
            </a:lvl1pPr>
            <a:lvl2pPr marL="601772" indent="-2314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2pPr>
            <a:lvl3pPr marL="972092" indent="-2314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3pPr>
            <a:lvl4pPr marL="1342414" indent="-2314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4pPr>
            <a:lvl5pPr marL="1712734" indent="-2314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  <a:latin typeface="Helvetica" panose="020B0604020202020204" pitchFamily="34" charset="0"/>
                <a:ea typeface="+mn-ea"/>
                <a:cs typeface="Helvetica" panose="020B0604020202020204" pitchFamily="34" charset="0"/>
              </a:defRPr>
            </a:lvl5pPr>
            <a:lvl6pPr marL="1851606">
              <a:defRPr>
                <a:latin typeface="+mn-lt"/>
                <a:ea typeface="+mn-ea"/>
                <a:cs typeface="+mn-cs"/>
              </a:defRPr>
            </a:lvl6pPr>
            <a:lvl7pPr marL="2221926">
              <a:defRPr>
                <a:latin typeface="+mn-lt"/>
                <a:ea typeface="+mn-ea"/>
                <a:cs typeface="+mn-cs"/>
              </a:defRPr>
            </a:lvl7pPr>
            <a:lvl8pPr marL="2592246">
              <a:defRPr>
                <a:latin typeface="+mn-lt"/>
                <a:ea typeface="+mn-ea"/>
                <a:cs typeface="+mn-cs"/>
              </a:defRPr>
            </a:lvl8pPr>
            <a:lvl9pPr marL="2962566">
              <a:defRPr>
                <a:latin typeface="+mn-lt"/>
                <a:ea typeface="+mn-ea"/>
                <a:cs typeface="+mn-cs"/>
              </a:defRPr>
            </a:lvl9pPr>
          </a:lstStyle>
          <a:p>
            <a:pPr defTabSz="914400"/>
            <a:r>
              <a:rPr lang="en-US" kern="0" dirty="0"/>
              <a:t>The prototype process creates Java classes that then are compiled and executed</a:t>
            </a:r>
          </a:p>
        </p:txBody>
      </p:sp>
    </p:spTree>
    <p:extLst>
      <p:ext uri="{BB962C8B-B14F-4D97-AF65-F5344CB8AC3E}">
        <p14:creationId xmlns:p14="http://schemas.microsoft.com/office/powerpoint/2010/main" val="2761270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C224E-4BE8-D7AD-B955-ED2DCDE694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5F8DCC1-1647-4C7B-88F4-06971F323326}" type="slidenum">
              <a:rPr lang="pt-BR" smtClean="0"/>
              <a:pPr/>
              <a:t>4</a:t>
            </a:fld>
            <a:endParaRPr lang="pt-BR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353A32-1A64-2254-BF51-0D68439695E4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49275" y="1306513"/>
            <a:ext cx="6765925" cy="515525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Contributors</a:t>
            </a:r>
          </a:p>
          <a:p>
            <a:r>
              <a:rPr lang="en-US" dirty="0"/>
              <a:t>Numerous open-source contributors have joined the project this year</a:t>
            </a:r>
          </a:p>
          <a:p>
            <a:r>
              <a:rPr lang="en-US" dirty="0"/>
              <a:t>None had access to a mainframe</a:t>
            </a:r>
          </a:p>
          <a:p>
            <a:r>
              <a:rPr lang="en-US" dirty="0"/>
              <a:t>They contributed to the front-end of the project, written in Java and executed locally</a:t>
            </a:r>
          </a:p>
          <a:p>
            <a:r>
              <a:rPr lang="en-US" dirty="0"/>
              <a:t>Java would allow them to contribute to more of the project</a:t>
            </a:r>
          </a:p>
          <a:p>
            <a:pPr marL="0" indent="0">
              <a:buNone/>
            </a:pPr>
            <a:r>
              <a:rPr lang="en-US" dirty="0"/>
              <a:t>Platform Independence</a:t>
            </a:r>
          </a:p>
          <a:p>
            <a:r>
              <a:rPr lang="en-US" dirty="0"/>
              <a:t>Potential market for our project may be limited by z/OS</a:t>
            </a:r>
          </a:p>
          <a:p>
            <a:r>
              <a:rPr lang="en-US" dirty="0"/>
              <a:t>Our new system will work on z/OS (under java)</a:t>
            </a:r>
          </a:p>
          <a:p>
            <a:r>
              <a:rPr lang="en-US" dirty="0"/>
              <a:t>We may be able to run under z/Linux or other platforms</a:t>
            </a:r>
          </a:p>
          <a:p>
            <a:r>
              <a:rPr lang="en-US" dirty="0"/>
              <a:t>There may be some performance loss, but on z it may be mitigated by potential ZIIP usage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539920-9AA2-43B3-B045-98D7A59FF2A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567228" y="1306512"/>
            <a:ext cx="6765925" cy="29751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Other Transformation Efforts</a:t>
            </a:r>
          </a:p>
          <a:p>
            <a:r>
              <a:rPr lang="en-US" dirty="0"/>
              <a:t>We have explored project simplification through removal of the meta data database component</a:t>
            </a:r>
          </a:p>
          <a:p>
            <a:r>
              <a:rPr lang="en-US" dirty="0"/>
              <a:t>Transformation of code was deemed too difficult</a:t>
            </a:r>
          </a:p>
          <a:p>
            <a:r>
              <a:rPr lang="en-US" dirty="0"/>
              <a:t>Recently have prototyped a CLI for the front end workbench</a:t>
            </a:r>
          </a:p>
          <a:p>
            <a:r>
              <a:rPr lang="en-US" dirty="0"/>
              <a:t>May enable automation of workbench tasks, and mitigate need for the database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96D5DF-87D5-5FB3-1F1C-32ECA9665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considering Java?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B1A15D62-8F75-A5D6-52DD-A07FF7B55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0302" y="5633984"/>
            <a:ext cx="2870200" cy="2261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09777650-C79A-69FD-B08B-A13351FF7B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1264" y="5824484"/>
            <a:ext cx="4008120" cy="1880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1009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3A8A5-0BF1-6BD1-6A3E-9D242F9A8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4A8843A6-7481-B23D-50CA-0F386DBCFD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 dirty="0"/>
              <a:t>11</a:t>
            </a:r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47FB6122-777B-D76D-15E3-58381F5C13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This Year’s Achievements</a:t>
            </a:r>
          </a:p>
        </p:txBody>
      </p:sp>
      <p:pic>
        <p:nvPicPr>
          <p:cNvPr id="7174" name="Picture 8">
            <a:extLst>
              <a:ext uri="{FF2B5EF4-FFF2-40B4-BE49-F238E27FC236}">
                <a16:creationId xmlns:a16="http://schemas.microsoft.com/office/drawing/2014/main" id="{780DD350-2E61-3514-5512-FE9F24FE7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0302" y="5633984"/>
            <a:ext cx="2870200" cy="2261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>
            <a:extLst>
              <a:ext uri="{FF2B5EF4-FFF2-40B4-BE49-F238E27FC236}">
                <a16:creationId xmlns:a16="http://schemas.microsoft.com/office/drawing/2014/main" id="{E36B0DF4-CCC3-27DC-1F53-2EFCE43AB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1" y="5908304"/>
            <a:ext cx="4008120" cy="1880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1E15CB-A0AA-4656-27D8-EE0FA5E8A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275" y="1737043"/>
            <a:ext cx="13577888" cy="3359894"/>
          </a:xfrm>
        </p:spPr>
        <p:txBody>
          <a:bodyPr/>
          <a:lstStyle/>
          <a:p>
            <a:r>
              <a:rPr lang="en-US" dirty="0"/>
              <a:t>Fully automated build systems for all components of the project, using open source technologies</a:t>
            </a:r>
          </a:p>
          <a:p>
            <a:r>
              <a:rPr lang="en-US" dirty="0"/>
              <a:t>Cleared all LFX </a:t>
            </a:r>
            <a:r>
              <a:rPr lang="en-US" dirty="0" err="1"/>
              <a:t>Snyk</a:t>
            </a:r>
            <a:r>
              <a:rPr lang="en-US" dirty="0"/>
              <a:t> vulnerabilities in production component libraries</a:t>
            </a:r>
          </a:p>
          <a:p>
            <a:r>
              <a:rPr lang="en-US" dirty="0"/>
              <a:t>Cleared all user requested development tickets and in the midst of testing</a:t>
            </a:r>
          </a:p>
          <a:p>
            <a:r>
              <a:rPr lang="en-US" dirty="0"/>
              <a:t>Removed technical debt of C++ code replaced with java</a:t>
            </a:r>
          </a:p>
          <a:p>
            <a:r>
              <a:rPr lang="en-US" dirty="0"/>
              <a:t>Added enhance user reporting and graphics of process flow to user interface</a:t>
            </a:r>
          </a:p>
          <a:p>
            <a:r>
              <a:rPr lang="en-US" dirty="0"/>
              <a:t>Prototyped new user interface component which removes dependence on database</a:t>
            </a:r>
          </a:p>
          <a:p>
            <a:r>
              <a:rPr lang="en-US" dirty="0"/>
              <a:t>Also prototyped a new java execution performance engine</a:t>
            </a:r>
          </a:p>
          <a:p>
            <a:r>
              <a:rPr lang="en-US" dirty="0"/>
              <a:t>Working on plans for </a:t>
            </a:r>
            <a:r>
              <a:rPr lang="en-US" dirty="0" err="1"/>
              <a:t>GenevaERS</a:t>
            </a:r>
            <a:r>
              <a:rPr lang="en-US" dirty="0"/>
              <a:t> version 5 for this next year</a:t>
            </a:r>
          </a:p>
        </p:txBody>
      </p:sp>
    </p:spTree>
    <p:extLst>
      <p:ext uri="{BB962C8B-B14F-4D97-AF65-F5344CB8AC3E}">
        <p14:creationId xmlns:p14="http://schemas.microsoft.com/office/powerpoint/2010/main" val="3745869102"/>
      </p:ext>
    </p:extLst>
  </p:cSld>
  <p:clrMapOvr>
    <a:masterClrMapping/>
  </p:clrMapOvr>
</p:sld>
</file>

<file path=ppt/theme/theme1.xml><?xml version="1.0" encoding="utf-8"?>
<a:theme xmlns:a="http://schemas.openxmlformats.org/drawingml/2006/main" name="Santander IBM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Helvetica - Them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105885</TotalTime>
  <Words>549</Words>
  <Application>Microsoft Office PowerPoint</Application>
  <PresentationFormat>Custom</PresentationFormat>
  <Paragraphs>102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Arial Regular</vt:lpstr>
      <vt:lpstr>Calibri</vt:lpstr>
      <vt:lpstr>Helvetica</vt:lpstr>
      <vt:lpstr>HelvNeue Light for IBM</vt:lpstr>
      <vt:lpstr>IBM Plex Sans SemiBold</vt:lpstr>
      <vt:lpstr>MV Boli</vt:lpstr>
      <vt:lpstr>Santander IBM</vt:lpstr>
      <vt:lpstr>GenevaERS Annual Review Transforming GenevaERS to Java</vt:lpstr>
      <vt:lpstr>Last Year’s OMP Presentation</vt:lpstr>
      <vt:lpstr>A Highly-Efficient Just-in-time Compiler</vt:lpstr>
      <vt:lpstr>Why considering Java?</vt:lpstr>
      <vt:lpstr>This Year’s Achievements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 IBM - Informacional de Finanças</dc:title>
  <dc:subject/>
  <dc:creator/>
  <cp:keywords/>
  <dc:description/>
  <cp:lastModifiedBy>Kip Twitchell</cp:lastModifiedBy>
  <cp:revision>1819</cp:revision>
  <cp:lastPrinted>2018-10-31T16:44:52Z</cp:lastPrinted>
  <dcterms:created xsi:type="dcterms:W3CDTF">2017-10-15T17:28:19Z</dcterms:created>
  <dcterms:modified xsi:type="dcterms:W3CDTF">2025-12-09T22:16:51Z</dcterms:modified>
  <cp:category/>
</cp:coreProperties>
</file>